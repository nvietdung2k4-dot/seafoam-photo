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e001fb4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e001fb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e001fb4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e001fb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de001fb4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de001fb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e001fb4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de001fb4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e001fb4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de001fb4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de001fb4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de001fb4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de001fb4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de001fb4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de001fb4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bde001fb47_2_96:notes"/>
          <p:cNvSpPr/>
          <p:nvPr>
            <p:ph idx="2" type="sldImg"/>
          </p:nvPr>
        </p:nvSpPr>
        <p:spPr>
          <a:xfrm>
            <a:off x="1159297" y="685800"/>
            <a:ext cx="4540081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de001fb4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de001fb4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de001fb4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de001fb4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de001fb47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de001fb4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de001fb4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de001fb4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de001fb4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de001fb4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de001fb4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de001fb4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e001fb4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de001fb4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de001fb4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de001fb4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de001fb4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de001fb4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de001fb4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de001fb4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de001fb4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de001fb4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de001fb4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de001fb4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de001fb4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de001fb4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de001fb4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de001fb4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de001fb4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de001fb4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59110" y="1123466"/>
            <a:ext cx="4069911" cy="775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18220" y="2049363"/>
            <a:ext cx="3351692" cy="924223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39407" y="144829"/>
            <a:ext cx="4309318" cy="60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9407" y="843855"/>
            <a:ext cx="4309318" cy="238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78229" y="2323951"/>
            <a:ext cx="4069911" cy="718282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sz="21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78229" y="1532837"/>
            <a:ext cx="4069911" cy="791114"/>
          </a:xfrm>
          <a:prstGeom prst="rect">
            <a:avLst/>
          </a:prstGeom>
          <a:noFill/>
          <a:ln>
            <a:noFill/>
          </a:ln>
        </p:spPr>
        <p:txBody>
          <a:bodyPr anchorCtr="0" anchor="b" bIns="23975" lIns="47975" spcFirstLastPara="1" rIns="47975" wrap="square" tIns="239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39407" y="144829"/>
            <a:ext cx="4309318" cy="60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39407" y="843855"/>
            <a:ext cx="2114758" cy="238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433967" y="843855"/>
            <a:ext cx="2114758" cy="238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39407" y="144829"/>
            <a:ext cx="4309318" cy="60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39407" y="809532"/>
            <a:ext cx="2115589" cy="337374"/>
          </a:xfrm>
          <a:prstGeom prst="rect">
            <a:avLst/>
          </a:prstGeom>
          <a:noFill/>
          <a:ln>
            <a:noFill/>
          </a:ln>
        </p:spPr>
        <p:txBody>
          <a:bodyPr anchorCtr="0" anchor="b" bIns="23975" lIns="47975" spcFirstLastPara="1" rIns="47975" wrap="square" tIns="239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39407" y="1146907"/>
            <a:ext cx="2115589" cy="2083687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432304" y="809532"/>
            <a:ext cx="2116420" cy="337374"/>
          </a:xfrm>
          <a:prstGeom prst="rect">
            <a:avLst/>
          </a:prstGeom>
          <a:noFill/>
          <a:ln>
            <a:noFill/>
          </a:ln>
        </p:spPr>
        <p:txBody>
          <a:bodyPr anchorCtr="0" anchor="b" bIns="23975" lIns="47975" spcFirstLastPara="1" rIns="47975" wrap="square" tIns="239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432304" y="1146907"/>
            <a:ext cx="2116420" cy="2083687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39407" y="144829"/>
            <a:ext cx="4309318" cy="60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39407" y="143991"/>
            <a:ext cx="1575262" cy="6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23975" lIns="47975" spcFirstLastPara="1" rIns="47975" wrap="square" tIns="239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872026" y="143991"/>
            <a:ext cx="2676698" cy="3086603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3365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39407" y="756791"/>
            <a:ext cx="1575262" cy="247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938507" y="2531566"/>
            <a:ext cx="2872879" cy="298866"/>
          </a:xfrm>
          <a:prstGeom prst="rect">
            <a:avLst/>
          </a:prstGeom>
          <a:noFill/>
          <a:ln>
            <a:noFill/>
          </a:ln>
        </p:spPr>
        <p:txBody>
          <a:bodyPr anchorCtr="0" anchor="b" bIns="23975" lIns="47975" spcFirstLastPara="1" rIns="47975" wrap="square" tIns="239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938507" y="323143"/>
            <a:ext cx="2872879" cy="2169914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938507" y="2830432"/>
            <a:ext cx="2872879" cy="424439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39407" y="144829"/>
            <a:ext cx="4309318" cy="60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00696" y="-117434"/>
            <a:ext cx="2386738" cy="4309318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467177" y="1149046"/>
            <a:ext cx="3085765" cy="10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2617" y="111618"/>
            <a:ext cx="3085765" cy="3152186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39407" y="144829"/>
            <a:ext cx="4309318" cy="60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39407" y="843855"/>
            <a:ext cx="4309318" cy="238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3975" lIns="47975" spcFirstLastPara="1" rIns="47975" wrap="square" tIns="23975">
            <a:normAutofit/>
          </a:bodyPr>
          <a:lstStyle>
            <a:lvl1pPr indent="-3365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115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39407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635945" y="3351981"/>
            <a:ext cx="151624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431494" y="3351981"/>
            <a:ext cx="1117231" cy="19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75" lIns="47975" spcFirstLastPara="1" rIns="47975" wrap="square" tIns="239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 make the title line larger, and to put the phrase &quot;Phòng khám đa khoa&quot; on a new line.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se the style from this file to create the following table of contents:: 1. Mục tiêu &amp; Phạm vi Đồ án &#10;2. Kết quả khảo sát &#10;2.1 Tác nhân hệ thống &#10;2.2 Tổng quan quy trình &#10;3. Phân tích Usecase &#10;4. Phân tích Cơ sở dữ liệu&#10;5. Một số hình ảnh về hệ thống &#10;6. Tài liệu tham khảo 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rect it to : 1. Mục tiêu &amp; Phạm vi Đồ án &quot; "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rect it to &quot; 2. Kết quả khảo sát 2.1 Tác nhân hệ thống &quot;, Only change the title, keep the image the same."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rect &quot; Xuất viện &quot; to &quot; Rời khỏi phòng khám &quot; "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469575" y="1922025"/>
            <a:ext cx="4608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Hình 1 : Sơ đồ quy trình tổng quát của phòng khám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580" y="0"/>
            <a:ext cx="379549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title: 2.3. Chi tiết quy trình " id="160" name="Google Shape;16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/>
          <p:nvPr/>
        </p:nvSpPr>
        <p:spPr>
          <a:xfrm>
            <a:off x="0" y="0"/>
            <a:ext cx="9150652" cy="5143500"/>
          </a:xfrm>
          <a:custGeom>
            <a:rect b="b" l="l" r="r" t="t"/>
            <a:pathLst>
              <a:path extrusionOk="0"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itle color the same as the previous slide."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ease revise section 5 because this is a system for a clinic, not a hospital." id="175" name="Google Shape;1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rect &quot; Hệ thống thông tin  &quot; to &quot; Hệ thống &quot;" id="180" name="Google Shape;1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/>
        </p:nvSpPr>
        <p:spPr>
          <a:xfrm>
            <a:off x="350350" y="295600"/>
            <a:ext cx="249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Phân tích về Cơ sở dữ liệu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6"/>
          <p:cNvSpPr txBox="1"/>
          <p:nvPr/>
        </p:nvSpPr>
        <p:spPr>
          <a:xfrm>
            <a:off x="163025" y="3948265"/>
            <a:ext cx="2879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Hình 2 :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Hình ảnh tổng quan về Cơ sở dữ liệu cho Hệ thống quản lý Phòng khám đa khoa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725" y="152400"/>
            <a:ext cx="5991825" cy="46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271" y="1094500"/>
            <a:ext cx="7584624" cy="389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475" y="942100"/>
            <a:ext cx="7631040" cy="38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63" y="942100"/>
            <a:ext cx="7862080" cy="38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675" y="879425"/>
            <a:ext cx="8144658" cy="38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63" y="942100"/>
            <a:ext cx="7542871" cy="389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00" y="1063775"/>
            <a:ext cx="8155791" cy="389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3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500" y="1063775"/>
            <a:ext cx="8054988" cy="38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438" y="942100"/>
            <a:ext cx="7603120" cy="389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/>
        </p:nvSpPr>
        <p:spPr>
          <a:xfrm>
            <a:off x="350350" y="295600"/>
            <a:ext cx="644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5. Một số hình ảnh về hệ thống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400" y="1079150"/>
            <a:ext cx="7793198" cy="389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/>
        </p:nvSpPr>
        <p:spPr>
          <a:xfrm>
            <a:off x="350350" y="295600"/>
            <a:ext cx="64485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B262A"/>
                </a:solidFill>
                <a:latin typeface="Calibri"/>
                <a:ea typeface="Calibri"/>
                <a:cs typeface="Calibri"/>
                <a:sym typeface="Calibri"/>
              </a:rPr>
              <a:t>6. Tài liệu tham khảo </a:t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8B26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Elmasri, R., &amp; Navathe, S. B. (2015). Fundamentals of Database Systems, 7th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Edition. Pearson.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Connolly, T., &amp; Begg, C. (2014). Database Systems: A Practical Approach to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Design, Implementation, and Management, 6th Edition. Pearson.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Sommerville, I. (2015). Software Engineering, 10th Edition. Pearson.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Pressman, R. S., &amp; Maxim, B. R. (2014). Software Engineering: A Practitioner’s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Approach, 8th Edition. McGraw-Hill.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Fowler, M. (2003). UML Distilled: A Brief Guide to the Standard Object Modeling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Language, 3rd Edition. Addison-Wesley.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Larman, C. (2004). Applying UML and Patterns: An Introduction to Object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Oriented Analysis and Design and Iterative Development, 3rd Edition. Prentice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Hall.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Microsoft Documentation. SQL Server Database Design Best Practices.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URL: https://docs.microsoft.com/en-us/sql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67089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